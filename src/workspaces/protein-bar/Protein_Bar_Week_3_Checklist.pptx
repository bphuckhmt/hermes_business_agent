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"/>
              </a:defRPr>
            </a:pPr>
            <a:r>
              <a:t>Protein Bar Thảo Điền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5740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FFFFFF"/>
                </a:solidFill>
                <a:latin typeface="Aptos"/>
              </a:defRPr>
            </a:pPr>
            <a:r>
              <a:t>Checklist vận hành tuần 3 · 24–30/08/2026</a:t>
            </a:r>
            <a:br/>
            <a:r>
              <a:t>Mục tiêu: chốt shortlist mặt bằng và xác thực sản phẩm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5074920"/>
            <a:ext cx="1828800" cy="73152"/>
          </a:xfrm>
          <a:prstGeom prst="rect">
            <a:avLst/>
          </a:prstGeom>
          <a:solidFill>
            <a:srgbClr val="E6B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FFFFFF"/>
                </a:solidFill>
                <a:latin typeface="Aptos"/>
              </a:defRPr>
            </a:pPr>
            <a:r>
              <a:t>Protein Bar · Weekly execution brief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2372A"/>
                </a:solidFill>
                <a:latin typeface="Aptos"/>
              </a:defRPr>
            </a:pPr>
            <a:r>
              <a:t>Mục tiêu cuối tuần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5132"/>
                </a:solidFill>
                <a:latin typeface="Aptos"/>
              </a:defRPr>
            </a:pPr>
            <a:r>
              <a:t>• Khảo sát tối thiểu 8 mặt bằng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84832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2372A"/>
                </a:solidFill>
                <a:latin typeface="Aptos"/>
              </a:defRPr>
            </a:pPr>
            <a:r>
              <a:t>• Shortlist 3–5 mặt bằng đạt điều kiện pháp lý, vận hành và không vi phạm flood 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52344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2372A"/>
                </a:solidFill>
                <a:latin typeface="Aptos"/>
              </a:defRPr>
            </a:pPr>
            <a:r>
              <a:t>• Tasting ít nhất 5 SKU với tối thiểu 5 người chấm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19856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2372A"/>
                </a:solidFill>
                <a:latin typeface="Aptos"/>
              </a:defRPr>
            </a:pPr>
            <a:r>
              <a:t>• Hoàn thiện Menu v1 kèm target COGS 34%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08736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2372A"/>
                </a:solidFill>
                <a:latin typeface="Aptos"/>
              </a:defRPr>
            </a:pPr>
            <a:r>
              <a:t>• Xác minh trạng thái ERC, thuế và hóa đơn điện tử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67064"/>
                </a:solidFill>
                <a:latin typeface="Aptos"/>
              </a:defRPr>
            </a:pPr>
            <a:r>
              <a:t>24–30/08/2026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2372A"/>
                </a:solidFill>
                <a:latin typeface="Aptos"/>
              </a:defRPr>
            </a:pPr>
            <a:r>
              <a:t>Workstream 1 · Mặt bằng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372A"/>
                </a:solidFill>
                <a:latin typeface="Aptos"/>
              </a:defRPr>
            </a:pPr>
            <a:r>
              <a:t>• Đặt lịch và hoàn tất ≥8 lượt khảo sát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84832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2372A"/>
                </a:solidFill>
                <a:latin typeface="Aptos"/>
              </a:defRPr>
            </a:pPr>
            <a:r>
              <a:t>• Ghi địa chỉ, diện tích, giá thuê, mặt tiền, ảnh hiện trạng và nền nhà so với mặt đường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52344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2372A"/>
                </a:solidFill>
                <a:latin typeface="Aptos"/>
              </a:defRPr>
            </a:pPr>
            <a:r>
              <a:t>• Kiểm tra sổ hồng, chủ cho thuê, quyền sử dụng thương mại và khả năng đăng ký kinh doanh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19856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2372A"/>
                </a:solidFill>
                <a:latin typeface="Aptos"/>
              </a:defRPr>
            </a:pPr>
            <a:r>
              <a:t>• Kiểm tra điện 3 pha, nước/thoát nước, bẫy mỡ, biển hiệu và chỗ đậu xe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08736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2372A"/>
                </a:solidFill>
                <a:latin typeface="Aptos"/>
              </a:defRPr>
            </a:pPr>
            <a:r>
              <a:t>• Chấm điểm và rút gọn còn 3–5 ứng viên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67064"/>
                </a:solidFill>
                <a:latin typeface="Aptos"/>
              </a:defRPr>
            </a:pPr>
            <a:r>
              <a:t>Owner: Intern · Klaus tham gia 2–3 lượt quan trọng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2372A"/>
                </a:solidFill>
                <a:latin typeface="Aptos"/>
              </a:defRPr>
            </a:pPr>
            <a:r>
              <a:t>Gate bắt buộc · Flood &amp; pháp lý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B42318"/>
                </a:solidFill>
                <a:latin typeface="Aptos"/>
              </a:defRPr>
            </a:pPr>
            <a:r>
              <a:t>• Không chọn mặt bằng dưới flood line Thảo Điền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84832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2372A"/>
                </a:solidFill>
                <a:latin typeface="Aptos"/>
              </a:defRPr>
            </a:pPr>
            <a:r>
              <a:t>• Kiểm tra dấu nước/ngấn ngập; nếu có thể, tái kiểm tra sau mưa lớn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52344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2372A"/>
                </a:solidFill>
                <a:latin typeface="Aptos"/>
              </a:defRPr>
            </a:pPr>
            <a:r>
              <a:t>• Chụp ảnh nền, mặt đường, lối vào và hệ thống thoát nước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19856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2372A"/>
                </a:solidFill>
                <a:latin typeface="Aptos"/>
              </a:defRPr>
            </a:pPr>
            <a:r>
              <a:t>• Loại ngay mặt bằng có rủi ro ngập hoặc hồ sơ đăng ký kinh doanh không rõ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08736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2372A"/>
                </a:solidFill>
                <a:latin typeface="Aptos"/>
              </a:defRPr>
            </a:pPr>
            <a:r>
              <a:t>• Đối chiếu: flood risk · legal cleanliness · rent · frontage · gym catchment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67064"/>
                </a:solidFill>
                <a:latin typeface="Aptos"/>
              </a:defRPr>
            </a:pPr>
            <a:r>
              <a:t>Decision rule: fail flood/legal = no-go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2372A"/>
                </a:solidFill>
                <a:latin typeface="Aptos"/>
              </a:defRPr>
            </a:pPr>
            <a:r>
              <a:t>Workstream 2 · Supplier tasting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372A"/>
                </a:solidFill>
                <a:latin typeface="Aptos"/>
              </a:defRPr>
            </a:pPr>
            <a:r>
              <a:t>• Tổ chức tasting #1: ≥5 SKU · ≥5 tasters · blind format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84832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2372A"/>
                </a:solidFill>
                <a:latin typeface="Aptos"/>
              </a:defRPr>
            </a:pPr>
            <a:r>
              <a:t>• Chấm hương vị và khả năng phù hợp menu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52344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2372A"/>
                </a:solidFill>
                <a:latin typeface="Aptos"/>
              </a:defRPr>
            </a:pPr>
            <a:r>
              <a:t>• Ghi protein (g/serving) và tính VND trên mỗi gram protein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19856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2372A"/>
                </a:solidFill>
                <a:latin typeface="Aptos"/>
              </a:defRPr>
            </a:pPr>
            <a:r>
              <a:t>• Đánh giá margin, độ ổn định nguồn cung và lead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08736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2372A"/>
                </a:solidFill>
                <a:latin typeface="Aptos"/>
              </a:defRPr>
            </a:pPr>
            <a:r>
              <a:t>• Yêu cầu bảng giá và bản tự công bố cho từng SKU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54880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B42318"/>
                </a:solidFill>
                <a:latin typeface="Aptos"/>
              </a:defRPr>
            </a:pPr>
            <a:r>
              <a:t>• Không có declaration copy = SKU chưa được đưa vào shortlist bán hàng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67064"/>
                </a:solidFill>
                <a:latin typeface="Aptos"/>
              </a:defRPr>
            </a:pPr>
            <a:r>
              <a:t>Owner: Intern + Klaus · Output: scorecard ≥5 SKU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2372A"/>
                </a:solidFill>
                <a:latin typeface="Aptos"/>
              </a:defRPr>
            </a:pPr>
            <a:r>
              <a:t>Workstream 3 · Menu &amp; tài chính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372A"/>
                </a:solidFill>
                <a:latin typeface="Aptos"/>
              </a:defRPr>
            </a:pPr>
            <a:r>
              <a:t>• Hoàn thiện Menu v1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84832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2372A"/>
                </a:solidFill>
                <a:latin typeface="Aptos"/>
              </a:defRPr>
            </a:pPr>
            <a:r>
              <a:t>• Protein shake ≥25g · proffee · protein iced tea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52344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2372A"/>
                </a:solidFill>
                <a:latin typeface="Aptos"/>
              </a:defRPr>
            </a:pPr>
            <a:r>
              <a:t>• 3–4 món bowl/wrap · grab-and-go RTD từ tủ lạnh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19856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2372A"/>
                </a:solidFill>
                <a:latin typeface="Aptos"/>
              </a:defRPr>
            </a:pPr>
            <a:r>
              <a:t>• Tính COGS từng món theo giả định P&amp;L: 34%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08736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2372A"/>
                </a:solidFill>
                <a:latin typeface="Aptos"/>
              </a:defRPr>
            </a:pPr>
            <a:r>
              <a:t>• Gắn mỗi món với supplier/SKU, giá vốn, protein và target selling price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54880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2372A"/>
                </a:solidFill>
                <a:latin typeface="Aptos"/>
              </a:defRPr>
            </a:pPr>
            <a:r>
              <a:t>• Đánh dấu món chưa đủ hồ sơ là pending, không đưa vào launch menu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67064"/>
                </a:solidFill>
                <a:latin typeface="Aptos"/>
              </a:defRPr>
            </a:pPr>
            <a:r>
              <a:t>Owner: Klaus · Dependency: tasting + supplier price lists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"/>
              </a:defRPr>
            </a:pPr>
            <a:r>
              <a:t>Definition of Done · 30/08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372A"/>
                </a:solidFill>
                <a:latin typeface="Aptos"/>
              </a:defRPr>
            </a:pPr>
            <a:r>
              <a:t>• □ 8 mặt bằng đã khảo sát và có checklist/ảnh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84832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2372A"/>
                </a:solidFill>
                <a:latin typeface="Aptos"/>
              </a:defRPr>
            </a:pPr>
            <a:r>
              <a:t>• □ 3–5 mặt bằng shortlist, không vi phạm flood 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52344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2372A"/>
                </a:solidFill>
                <a:latin typeface="Aptos"/>
              </a:defRPr>
            </a:pPr>
            <a:r>
              <a:t>• □ Kết quả tasting ≥5 SKU, có scorecard và hồ sơ nhà cung cấp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19856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2372A"/>
                </a:solidFill>
                <a:latin typeface="Aptos"/>
              </a:defRPr>
            </a:pPr>
            <a:r>
              <a:t>• □ Menu v1 + COGS từng món + các lỗ hổng hồ sơ được đánh dấu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08736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2372A"/>
                </a:solidFill>
                <a:latin typeface="Aptos"/>
              </a:defRPr>
            </a:pPr>
            <a:r>
              <a:t>• □ ERC, thuế, hóa đơn điện tử: mỗi mục có trạng thái và người phụ trách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54880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2372A"/>
                </a:solidFill>
                <a:latin typeface="Aptos"/>
              </a:defRPr>
            </a:pPr>
            <a:r>
              <a:t>• □ Friday report: blockers, quyết định cần Klaus/partners phê duyệt, next 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FFFFFF"/>
                </a:solidFill>
                <a:latin typeface="Aptos"/>
              </a:defRPr>
            </a:pPr>
            <a:r>
              <a:t>Friday review · 30/08/2026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